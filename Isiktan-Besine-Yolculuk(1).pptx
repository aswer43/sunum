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embeddedFontLst>
    <p:embeddedFont>
      <p:font typeface="Open Sans Bold"/>
      <p:regular r:id="rId201314"/>
    </p:embeddedFont>
    <p:embeddedFont>
      <p:font typeface="Open Sans"/>
      <p:regular r:id="rId201315"/>
    </p:embeddedFont>
    <p:embeddedFont>
      <p:font typeface="Unbounded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image" Target="../media/image-8-8.png"/><Relationship Id="rId9" Type="http://schemas.openxmlformats.org/officeDocument/2006/relationships/image" Target="../media/image-8-9.svg"/><Relationship Id="rId10" Type="http://schemas.openxmlformats.org/officeDocument/2006/relationships/image" Target="../media/image-8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286073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Fotosentez ve Kloroplast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2750840"/>
            <a:ext cx="6296860" cy="1630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Işıktan Besine Yolculuk</a:t>
            </a:r>
            <a:endParaRPr lang="en-US" sz="5100" dirty="0"/>
          </a:p>
        </p:txBody>
      </p:sp>
      <p:sp>
        <p:nvSpPr>
          <p:cNvPr id="5" name="Text 2"/>
          <p:cNvSpPr/>
          <p:nvPr/>
        </p:nvSpPr>
        <p:spPr>
          <a:xfrm>
            <a:off x="661475" y="4664670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Bitkilerin ışık enerjisini kimyasal enerjiye dönüştürme mucizesi — hücrenin içinde, kloroplast organelinde gerçekleşen bu süreç, dünyadaki yaşamın temelini oluşturur.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42131"/>
            <a:ext cx="1072826" cy="188516"/>
          </a:xfrm>
          <a:prstGeom prst="roundRect">
            <a:avLst>
              <a:gd name="adj" fmla="val 22109"/>
            </a:avLst>
          </a:prstGeom>
          <a:solidFill>
            <a:srgbClr val="D6F5EE"/>
          </a:solidFill>
          <a:ln/>
        </p:spPr>
      </p:sp>
      <p:sp>
        <p:nvSpPr>
          <p:cNvPr id="3" name="Text 1"/>
          <p:cNvSpPr/>
          <p:nvPr/>
        </p:nvSpPr>
        <p:spPr>
          <a:xfrm>
            <a:off x="735887" y="579338"/>
            <a:ext cx="1533586" cy="114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KLOROPLAST YAPISI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61475" y="763191"/>
            <a:ext cx="10868745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Kloroplast Nerede, Ne İşe Yarar?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364456"/>
            <a:ext cx="6958731" cy="392360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29166" y="3161903"/>
            <a:ext cx="3607305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Fotosentez, bitki hücresinin 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kloroplast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organelinde gerçekleşir. Bu organel iki temel bölgeden oluşur:</a:t>
            </a:r>
            <a:endParaRPr lang="en-US" sz="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5471220"/>
            <a:ext cx="5393694" cy="84464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48994" y="5607943"/>
            <a:ext cx="5069455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Grana (Tilakoidler)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848994" y="5850533"/>
            <a:ext cx="5069455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Elektron taşıma sistemi (ETS) ve pigmentler burada bulunur. Işık reaksiyonlarının merkezidir.</a:t>
            </a:r>
            <a:endParaRPr lang="en-US" sz="9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36526" y="5471220"/>
            <a:ext cx="5393694" cy="84464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324045" y="5607943"/>
            <a:ext cx="5069455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Stroma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6324045" y="5850533"/>
            <a:ext cx="5069455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Tilakoidleri çevreleyen sıvı ortam. Calvin döngüsü yani ışığa bağımsız reaksiyonlar burada gerçekleşir.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580132"/>
            <a:ext cx="1053379" cy="264616"/>
          </a:xfrm>
          <a:prstGeom prst="roundRect">
            <a:avLst>
              <a:gd name="adj" fmla="val 22126"/>
            </a:avLst>
          </a:prstGeom>
          <a:solidFill>
            <a:srgbClr val="D6F5EE"/>
          </a:solidFill>
          <a:ln/>
        </p:spPr>
      </p:sp>
      <p:sp>
        <p:nvSpPr>
          <p:cNvPr id="4" name="Text 1"/>
          <p:cNvSpPr/>
          <p:nvPr/>
        </p:nvSpPr>
        <p:spPr>
          <a:xfrm>
            <a:off x="765950" y="632321"/>
            <a:ext cx="1454014" cy="160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PIGMENTLER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61475" y="908943"/>
            <a:ext cx="6296860" cy="1633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"Yeşili" Açıklayan: Pigmentler ve Işığı Toplama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661475" y="2783384"/>
            <a:ext cx="3068065" cy="2068612"/>
          </a:xfrm>
          <a:prstGeom prst="roundRect">
            <a:avLst>
              <a:gd name="adj" fmla="val 3538"/>
            </a:avLst>
          </a:prstGeom>
          <a:solidFill>
            <a:srgbClr val="D6F5EE"/>
          </a:solidFill>
          <a:ln w="6350">
            <a:solidFill>
              <a:srgbClr val="BCDBD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2048" y="2963962"/>
            <a:ext cx="2706917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Klorofil a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42048" y="3332460"/>
            <a:ext cx="2706917" cy="13389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 pigmenttir. Işık enerjisini soğurur ve elektron taşıma sistemine elektron aktarır. Fotosistemlerin reaksiyon merkezinde yer alır.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3890171" y="2783384"/>
            <a:ext cx="3068164" cy="2068612"/>
          </a:xfrm>
          <a:prstGeom prst="roundRect">
            <a:avLst>
              <a:gd name="adj" fmla="val 3538"/>
            </a:avLst>
          </a:prstGeom>
          <a:solidFill>
            <a:srgbClr val="D6F5EE"/>
          </a:solidFill>
          <a:ln w="6350">
            <a:solidFill>
              <a:srgbClr val="BCDBD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070744" y="2963962"/>
            <a:ext cx="2707017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Klorofil b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4070744" y="3332460"/>
            <a:ext cx="2707017" cy="1071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Absorpsiyon spektrumunu genişletir. Farklı dalga boylarını yakalayarak klorofil a'ya enerji aktarır.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61475" y="5012630"/>
            <a:ext cx="6296860" cy="1265238"/>
          </a:xfrm>
          <a:prstGeom prst="roundRect">
            <a:avLst>
              <a:gd name="adj" fmla="val 5784"/>
            </a:avLst>
          </a:prstGeom>
          <a:solidFill>
            <a:srgbClr val="D6F5EE"/>
          </a:solidFill>
          <a:ln w="6350">
            <a:solidFill>
              <a:srgbClr val="BCDBD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2048" y="5193209"/>
            <a:ext cx="5935712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Karotenoitler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842048" y="5561707"/>
            <a:ext cx="5935712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Yeşil dışı dalga boylarından enerji sağlar ve aşırı ışığı azaltarak klorofili fotooksidasyondan korur.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19807"/>
            <a:ext cx="860304" cy="143470"/>
          </a:xfrm>
          <a:prstGeom prst="roundRect">
            <a:avLst>
              <a:gd name="adj" fmla="val 22134"/>
            </a:avLst>
          </a:prstGeom>
          <a:solidFill>
            <a:srgbClr val="D6F5EE"/>
          </a:solidFill>
          <a:ln/>
        </p:spPr>
      </p:sp>
      <p:sp>
        <p:nvSpPr>
          <p:cNvPr id="3" name="Text 1"/>
          <p:cNvSpPr/>
          <p:nvPr/>
        </p:nvSpPr>
        <p:spPr>
          <a:xfrm>
            <a:off x="718127" y="548084"/>
            <a:ext cx="1356584" cy="8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REAKSIYON EVRELERI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661475" y="682129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İki Evre, İki Hedef: O₂ mi ATP mi?</a:t>
            </a:r>
            <a:endParaRPr lang="en-US" sz="18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101328"/>
            <a:ext cx="5319083" cy="5319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17487" y="3217366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Işık Reaksiyonları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17487" y="3412232"/>
            <a:ext cx="5928668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Tilakoid zarında gerçekleşir. Fotolizle su parçalanır; </a:t>
            </a:r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O₂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ATP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ve </a:t>
            </a:r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NADPH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üretilir. Oksijen bu evrede açığa çıkar.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6217487" y="3602335"/>
            <a:ext cx="5319083" cy="12700"/>
          </a:xfrm>
          <a:prstGeom prst="roundRect">
            <a:avLst>
              <a:gd name="adj" fmla="val 49999"/>
            </a:avLst>
          </a:prstGeom>
          <a:solidFill>
            <a:srgbClr val="333F70">
              <a:alpha val="5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6217487" y="3691731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Calvin Döngüsü (Işıktan Bağımsız)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217487" y="3886597"/>
            <a:ext cx="5928668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Stromada gerçekleşir. Işık reaksiyonlarında üretilen ATP ve NADPH kullanılarak </a:t>
            </a:r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CO₂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glikoza dönüştürülür.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6217487" y="4053086"/>
            <a:ext cx="5319083" cy="245566"/>
          </a:xfrm>
          <a:prstGeom prst="roundRect">
            <a:avLst>
              <a:gd name="adj" fmla="val 16164"/>
            </a:avLst>
          </a:prstGeom>
          <a:solidFill>
            <a:srgbClr val="D6F5E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1941" y="4130179"/>
            <a:ext cx="118067" cy="94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524462" y="4119166"/>
            <a:ext cx="5527239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Calvin döngüsü ışık gerektirmez, ancak ışık reaksiyonlarının ürünlerine bağımlıdır.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19807"/>
            <a:ext cx="820419" cy="143470"/>
          </a:xfrm>
          <a:prstGeom prst="roundRect">
            <a:avLst>
              <a:gd name="adj" fmla="val 22134"/>
            </a:avLst>
          </a:prstGeom>
          <a:solidFill>
            <a:srgbClr val="D6F5EE"/>
          </a:solidFill>
          <a:ln/>
        </p:spPr>
      </p:sp>
      <p:sp>
        <p:nvSpPr>
          <p:cNvPr id="3" name="Text 1"/>
          <p:cNvSpPr/>
          <p:nvPr/>
        </p:nvSpPr>
        <p:spPr>
          <a:xfrm>
            <a:off x="718127" y="548084"/>
            <a:ext cx="1316699" cy="8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IŞIK REAKSIYONLARI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661475" y="682129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Işık Reaksiyonları: Hill'den Fotolize Zincir</a:t>
            </a:r>
            <a:endParaRPr lang="en-US" sz="18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6160" y="1048246"/>
            <a:ext cx="8839277" cy="574178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81901" y="1946267"/>
            <a:ext cx="2445438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Hill Reaksiyonu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894952" y="2338906"/>
            <a:ext cx="2619336" cy="183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5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Işık + su + alıcı → O₂ üretimi.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872952" y="5315621"/>
            <a:ext cx="2445437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Fotoliz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4786003" y="5708260"/>
            <a:ext cx="2619335" cy="183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5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 parçalanır; e⁻ ve H⁺ ayrılır.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64002" y="1762855"/>
            <a:ext cx="2445438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ETS Aktifitesi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7677053" y="2155493"/>
            <a:ext cx="2619336" cy="366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5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H⁺ gradiyenti oluşur; ATP sentezi başlar.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61475" y="6843117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Hill reaksiyonu, kloroplastların CO₂ olmadan yalnızca ışık ve suyla oksijen üretebildiğini kanıtlamıştır. Fotoliz ile su moleküllerinden elektron ve proton ayrılır; oksijen yan ürün olarak atmosfere salınır.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631825"/>
            <a:ext cx="1346464" cy="278110"/>
          </a:xfrm>
          <a:prstGeom prst="roundRect">
            <a:avLst>
              <a:gd name="adj" fmla="val 22123"/>
            </a:avLst>
          </a:prstGeom>
          <a:solidFill>
            <a:srgbClr val="D6F5EE"/>
          </a:solidFill>
          <a:ln/>
        </p:spPr>
      </p:sp>
      <p:sp>
        <p:nvSpPr>
          <p:cNvPr id="4" name="Text 1"/>
          <p:cNvSpPr/>
          <p:nvPr/>
        </p:nvSpPr>
        <p:spPr>
          <a:xfrm>
            <a:off x="771307" y="686693"/>
            <a:ext cx="1736384" cy="168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FOTOSISTEMLER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61475" y="980877"/>
            <a:ext cx="6296860" cy="1144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Fotosistemler: P680–P700'nin "Takımı"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661475" y="2391271"/>
            <a:ext cx="6296860" cy="3834805"/>
          </a:xfrm>
          <a:prstGeom prst="roundRect">
            <a:avLst>
              <a:gd name="adj" fmla="val 2005"/>
            </a:avLst>
          </a:prstGeom>
          <a:solidFill>
            <a:srgbClr val="D6F5EE"/>
          </a:solidFill>
          <a:ln w="6350">
            <a:solidFill>
              <a:srgbClr val="BCDBD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67825" y="2397621"/>
            <a:ext cx="3142080" cy="2486720"/>
          </a:xfrm>
          <a:custGeom>
            <a:avLst/>
            <a:gdLst/>
            <a:ahLst/>
            <a:cxnLst/>
            <a:rect l="l" t="t" r="r" b="b"/>
            <a:pathLst>
              <a:path w="3142080" h="2486720">
                <a:moveTo>
                  <a:pt x="64089" y="0"/>
                </a:moveTo>
                <a:lnTo>
                  <a:pt x="3142080" y="0"/>
                </a:lnTo>
                <a:lnTo>
                  <a:pt x="3142080" y="2486720"/>
                </a:lnTo>
                <a:lnTo>
                  <a:pt x="0" y="2486720"/>
                </a:lnTo>
                <a:lnTo>
                  <a:pt x="0" y="64091"/>
                </a:lnTo>
                <a:arcTo hR="64091" wR="64089" stAng="10800000" swAng="5400000"/>
                <a:close/>
              </a:path>
            </a:pathLst>
          </a:custGeom>
          <a:solidFill>
            <a:srgbClr val="D6F5EE"/>
          </a:solidFill>
          <a:ln/>
        </p:spPr>
      </p:sp>
      <p:sp>
        <p:nvSpPr>
          <p:cNvPr id="8" name="Text 5"/>
          <p:cNvSpPr/>
          <p:nvPr/>
        </p:nvSpPr>
        <p:spPr>
          <a:xfrm>
            <a:off x="850879" y="2580680"/>
            <a:ext cx="2775972" cy="572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Fotosistem II — P680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50879" y="3259138"/>
            <a:ext cx="2775972" cy="1442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Reaksiyon merkezi 680 nm'de absorbsiyon yapar. Suyu fotolizle parçalar ve elektronları ETS'ye gönderir. Oksijen bu aşamada üretilir.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809905" y="2397621"/>
            <a:ext cx="3142080" cy="2486720"/>
          </a:xfrm>
          <a:custGeom>
            <a:avLst/>
            <a:gdLst/>
            <a:ahLst/>
            <a:cxnLst/>
            <a:rect l="l" t="t" r="r" b="b"/>
            <a:pathLst>
              <a:path w="3142080" h="2486720">
                <a:moveTo>
                  <a:pt x="0" y="0"/>
                </a:moveTo>
                <a:lnTo>
                  <a:pt x="3077991" y="0"/>
                </a:lnTo>
                <a:arcTo hR="64091" wR="64089" stAng="16200000" swAng="5400000"/>
                <a:lnTo>
                  <a:pt x="3142080" y="2486720"/>
                </a:lnTo>
                <a:lnTo>
                  <a:pt x="0" y="2486720"/>
                </a:lnTo>
                <a:lnTo>
                  <a:pt x="0" y="0"/>
                </a:lnTo>
                <a:close/>
              </a:path>
            </a:pathLst>
          </a:custGeom>
          <a:solidFill>
            <a:srgbClr val="D6F5EE"/>
          </a:solidFill>
          <a:ln/>
        </p:spPr>
      </p:sp>
      <p:sp>
        <p:nvSpPr>
          <p:cNvPr id="11" name="Shape 8"/>
          <p:cNvSpPr/>
          <p:nvPr/>
        </p:nvSpPr>
        <p:spPr>
          <a:xfrm>
            <a:off x="3809905" y="2397621"/>
            <a:ext cx="25399" cy="2486720"/>
          </a:xfrm>
          <a:prstGeom prst="roundRect">
            <a:avLst>
              <a:gd name="adj" fmla="val 50001"/>
            </a:avLst>
          </a:prstGeom>
          <a:solidFill>
            <a:srgbClr val="BCDBD4"/>
          </a:solidFill>
          <a:ln/>
        </p:spPr>
      </p:sp>
      <p:sp>
        <p:nvSpPr>
          <p:cNvPr id="12" name="Text 9"/>
          <p:cNvSpPr/>
          <p:nvPr/>
        </p:nvSpPr>
        <p:spPr>
          <a:xfrm>
            <a:off x="3992959" y="2580680"/>
            <a:ext cx="2775972" cy="572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Fotosistem I — P700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3992959" y="3259138"/>
            <a:ext cx="2775972" cy="1153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Reaksiyon merkezi 700 nm'de çalışır. ETS'den gelen elektronları NADP⁺'ye aktararak </a:t>
            </a:r>
            <a:pPr algn="l" indent="0" marL="0">
              <a:lnSpc>
                <a:spcPct val="131000"/>
              </a:lnSpc>
              <a:buNone/>
            </a:pPr>
            <a:r>
              <a:rPr lang="en-US" sz="14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NADPH</a:t>
            </a:r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üretir.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67825" y="4884341"/>
            <a:ext cx="6284160" cy="1335385"/>
          </a:xfrm>
          <a:custGeom>
            <a:avLst/>
            <a:gdLst/>
            <a:ahLst/>
            <a:cxnLst/>
            <a:rect l="l" t="t" r="r" b="b"/>
            <a:pathLst>
              <a:path w="6284160" h="1335385">
                <a:moveTo>
                  <a:pt x="0" y="0"/>
                </a:moveTo>
                <a:lnTo>
                  <a:pt x="6284160" y="0"/>
                </a:lnTo>
                <a:lnTo>
                  <a:pt x="6284160" y="1271295"/>
                </a:lnTo>
                <a:arcTo hR="64091" wR="64089" stAng="0" swAng="5400000"/>
                <a:lnTo>
                  <a:pt x="64089" y="1335385"/>
                </a:lnTo>
                <a:arcTo hR="64091" wR="64089" stAng="5400000" swAng="5400000"/>
                <a:lnTo>
                  <a:pt x="0" y="0"/>
                </a:lnTo>
                <a:close/>
              </a:path>
            </a:pathLst>
          </a:custGeom>
          <a:solidFill>
            <a:srgbClr val="D6F5EE"/>
          </a:solidFill>
          <a:ln/>
        </p:spPr>
      </p:sp>
      <p:sp>
        <p:nvSpPr>
          <p:cNvPr id="15" name="Shape 12"/>
          <p:cNvSpPr/>
          <p:nvPr/>
        </p:nvSpPr>
        <p:spPr>
          <a:xfrm>
            <a:off x="667825" y="4884341"/>
            <a:ext cx="6284160" cy="25400"/>
          </a:xfrm>
          <a:prstGeom prst="roundRect">
            <a:avLst>
              <a:gd name="adj" fmla="val 49999"/>
            </a:avLst>
          </a:prstGeom>
          <a:solidFill>
            <a:srgbClr val="BCDBD4"/>
          </a:solidFill>
          <a:ln/>
        </p:spPr>
      </p:sp>
      <p:sp>
        <p:nvSpPr>
          <p:cNvPr id="16" name="Text 13"/>
          <p:cNvSpPr/>
          <p:nvPr/>
        </p:nvSpPr>
        <p:spPr>
          <a:xfrm>
            <a:off x="850879" y="5067399"/>
            <a:ext cx="5918052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Anten Pigmentleri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850879" y="5459809"/>
            <a:ext cx="5918052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Çevre pigmentler ışık enerjisini toplar ve reaksiyon merkezine iletir. ETS bu süreçte </a:t>
            </a:r>
            <a:pPr algn="l" indent="0" marL="0">
              <a:lnSpc>
                <a:spcPct val="131000"/>
              </a:lnSpc>
              <a:buNone/>
            </a:pPr>
            <a:r>
              <a:rPr lang="en-US" sz="14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H⁺ gradiyenti</a:t>
            </a:r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oluşturur.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19807"/>
            <a:ext cx="806529" cy="143470"/>
          </a:xfrm>
          <a:prstGeom prst="roundRect">
            <a:avLst>
              <a:gd name="adj" fmla="val 22134"/>
            </a:avLst>
          </a:prstGeom>
          <a:solidFill>
            <a:srgbClr val="D6F5EE"/>
          </a:solidFill>
          <a:ln/>
        </p:spPr>
      </p:sp>
      <p:sp>
        <p:nvSpPr>
          <p:cNvPr id="3" name="Text 1"/>
          <p:cNvSpPr/>
          <p:nvPr/>
        </p:nvSpPr>
        <p:spPr>
          <a:xfrm>
            <a:off x="718127" y="548084"/>
            <a:ext cx="1302809" cy="8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ENERJI DÖNÜŞÜMÜ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661475" y="682129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ATP Üretimi ve CO₂'nin Bağlanması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61475" y="3315295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Fotofosforilasyon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61475" y="3510161"/>
            <a:ext cx="5928668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Işık reaksiyonlarında, ETS boyunca oluşan H⁺ gradiyenti ATP sentazı harekete geçirir. ADP + Pi → </a:t>
            </a:r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ATP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sentezlenir.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661475" y="3700264"/>
            <a:ext cx="5319083" cy="12700"/>
          </a:xfrm>
          <a:prstGeom prst="roundRect">
            <a:avLst>
              <a:gd name="adj" fmla="val 49999"/>
            </a:avLst>
          </a:prstGeom>
          <a:solidFill>
            <a:srgbClr val="333F70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61475" y="3789660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Calvin Döngüsü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61475" y="3984526"/>
            <a:ext cx="5319083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ATP ve NADPH harcanarak CO₂ molekülü organik yapılara bağlanır (karbon fiksasyonu). Döngü sonunda </a:t>
            </a:r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glikoz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ve diğer organik besinler sentezlenir.</a:t>
            </a:r>
            <a:endParaRPr lang="en-US" sz="7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487" y="1101328"/>
            <a:ext cx="5319083" cy="53192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560189"/>
            <a:ext cx="1239509" cy="242292"/>
          </a:xfrm>
          <a:prstGeom prst="roundRect">
            <a:avLst>
              <a:gd name="adj" fmla="val 22117"/>
            </a:avLst>
          </a:prstGeom>
          <a:solidFill>
            <a:srgbClr val="D6F5EE"/>
          </a:solidFill>
          <a:ln/>
        </p:spPr>
      </p:sp>
      <p:sp>
        <p:nvSpPr>
          <p:cNvPr id="4" name="Text 1"/>
          <p:cNvSpPr/>
          <p:nvPr/>
        </p:nvSpPr>
        <p:spPr>
          <a:xfrm>
            <a:off x="757119" y="608013"/>
            <a:ext cx="1657805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SENTEZ &amp; SONUÇ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61475" y="856258"/>
            <a:ext cx="6296860" cy="996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Fotosentez Hızını Ne Belirler?</a:t>
            </a:r>
            <a:endParaRPr lang="en-US" sz="3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054820"/>
            <a:ext cx="318881" cy="31888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48528" y="2109589"/>
            <a:ext cx="5809807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Klorofil Miktarı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1148528" y="2439392"/>
            <a:ext cx="5809807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Pigment yoğunluğu ışık yakalama kapasitesini doğrudan etkiler.</a:t>
            </a:r>
            <a:endParaRPr lang="en-US" sz="12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2943622"/>
            <a:ext cx="318881" cy="31888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48528" y="2998391"/>
            <a:ext cx="5809807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Işık Şiddeti &amp; Dalga Boyu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1148528" y="3328194"/>
            <a:ext cx="5809807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Belirli dalga boyları daha verimli soğurulur; şiddet arttıkça hız artar.</a:t>
            </a:r>
            <a:endParaRPr lang="en-US" sz="12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3832423"/>
            <a:ext cx="318881" cy="31888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48528" y="3887192"/>
            <a:ext cx="5809807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CO₂ Konsantrasyonu</a:t>
            </a:r>
            <a:endParaRPr lang="en-US" sz="1550" dirty="0"/>
          </a:p>
        </p:txBody>
      </p:sp>
      <p:sp>
        <p:nvSpPr>
          <p:cNvPr id="14" name="Text 8"/>
          <p:cNvSpPr/>
          <p:nvPr/>
        </p:nvSpPr>
        <p:spPr>
          <a:xfrm>
            <a:off x="1148528" y="4216995"/>
            <a:ext cx="5809807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Karbon kaynağı; yetersizse Calvin döngüsü yavaşlar.</a:t>
            </a:r>
            <a:endParaRPr lang="en-US" sz="12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1475" y="4721225"/>
            <a:ext cx="318881" cy="31888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148528" y="4775994"/>
            <a:ext cx="5809807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Sıcaklık</a:t>
            </a:r>
            <a:endParaRPr lang="en-US" sz="1550" dirty="0"/>
          </a:p>
        </p:txBody>
      </p:sp>
      <p:sp>
        <p:nvSpPr>
          <p:cNvPr id="17" name="Text 10"/>
          <p:cNvSpPr/>
          <p:nvPr/>
        </p:nvSpPr>
        <p:spPr>
          <a:xfrm>
            <a:off x="1148528" y="5105797"/>
            <a:ext cx="5809807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Enzim aktivitelerini etkiler; aşırı sıcaklık denatürasyona yol açar.</a:t>
            </a:r>
            <a:endParaRPr lang="en-US" sz="1250" dirty="0"/>
          </a:p>
        </p:txBody>
      </p:sp>
      <p:sp>
        <p:nvSpPr>
          <p:cNvPr id="18" name="Shape 11"/>
          <p:cNvSpPr/>
          <p:nvPr/>
        </p:nvSpPr>
        <p:spPr>
          <a:xfrm>
            <a:off x="661475" y="5492254"/>
            <a:ext cx="6296860" cy="805458"/>
          </a:xfrm>
          <a:prstGeom prst="roundRect">
            <a:avLst>
              <a:gd name="adj" fmla="val 8316"/>
            </a:avLst>
          </a:prstGeom>
          <a:solidFill>
            <a:srgbClr val="D6F5EE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0915" y="5685730"/>
            <a:ext cx="199325" cy="159445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179681" y="5666581"/>
            <a:ext cx="5619213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Minimum Kuralı: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Hızı en sınırlayıcı faktör belirler.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Oksijenin kaynağı CO₂ değil sudur;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bitki kütle artışının temel nedeni su ve CO₂'dir.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2026-10-06T17:29:34Z</dcterms:created>
  <dcterms:modified xsi:type="dcterms:W3CDTF">2026-10-06T17:29:34Z</dcterms:modified>
</cp:coreProperties>
</file>