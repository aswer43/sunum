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yne"/>
      <p:regular r:id="rId201314"/>
    </p:embeddedFont>
    <p:embeddedFont>
      <p:font typeface="Syne Bold"/>
      <p:regular r:id="rId201315"/>
    </p:embeddedFont>
    <p:embeddedFont>
      <p:font typeface="Syne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Fotosentez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10. Sınıf Biyoloji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Bitkilerin ışığı yaşam enerjisine dönüştürdüğü süreç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7390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Fotosentez Nedir?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61475" y="1984970"/>
            <a:ext cx="62968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Fotosentez, bitkilerin ve bazı mikroorganizmaların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ışık enerjisini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kullanarak inorganik maddelerden (CO₂ ve H₂O) organik besin ürettiği kimyasal süreçtir. Bu süreçte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oksijen açığa çıkar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atmosferdeki oksijenin büyük çoğunluğu bu sayede oluşur.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372048"/>
            <a:ext cx="3056853" cy="1668363"/>
          </a:xfrm>
          <a:prstGeom prst="roundRect">
            <a:avLst>
              <a:gd name="adj" fmla="val 4684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3855" y="3564434"/>
            <a:ext cx="2672093" cy="587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Enerji Kaynağı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4262041"/>
            <a:ext cx="26720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Güneş ışığı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1481" y="3372048"/>
            <a:ext cx="3056853" cy="1668363"/>
          </a:xfrm>
          <a:prstGeom prst="roundRect">
            <a:avLst>
              <a:gd name="adj" fmla="val 4684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3862" y="3564434"/>
            <a:ext cx="2672093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Hammaddeler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93862" y="4552752"/>
            <a:ext cx="26720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CO₂ + H₂O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223570"/>
            <a:ext cx="6296860" cy="1086941"/>
          </a:xfrm>
          <a:prstGeom prst="roundRect">
            <a:avLst>
              <a:gd name="adj" fmla="val 7190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855" y="5415955"/>
            <a:ext cx="5912099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🍬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Ürün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3855" y="582285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Glikoz + O₂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Neden Hayatın "Enerji Motoru"?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6983932" cy="10472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2336" y="6061571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Yeryüzündeki tüm enerjinin nihai kaynağı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Güneş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'tir. Bitkiler, fotosentez sayesinde bu ışık enerjisini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kimyasal enerjiye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dönüştürür ve besin zincirinin temelini oluşturur.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17213"/>
            <a:ext cx="5410759" cy="503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427" y="11624370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Küresel Ölçek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19427" y="11800284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Yılda yaklaşık 170 milyar ton organik madde üretilir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9461" y="11517213"/>
            <a:ext cx="5410759" cy="5036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7413" y="11624370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🦋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Besin Zinciri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277413" y="11800284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Tüm heterotrof canlılar dolaylı ya da doğrudan fotosentez ürünlerine bağımlıdır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60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Fotosentez Denklemi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914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Genel Kimyasal Denklem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3638"/>
            <a:ext cx="5203794" cy="32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0057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Karbondioksit ve su, klorofil yardımıyla ışık enerjisi kullanılarak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glikoza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ve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oksijene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dönüştürülür.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818037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54780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09842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035326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Oluşan oksijenin tamamı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sudan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(H₂O) gelir — bu, radyoaktif izotop deneyleriyle kanıtlanmıştır.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32776" y="189914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Basit Özet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407047"/>
            <a:ext cx="945035" cy="11340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6818" y="2596059"/>
            <a:ext cx="40697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Klorofil + Işık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3541117"/>
            <a:ext cx="945035" cy="11340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6818" y="3730129"/>
            <a:ext cx="40697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CO₂ + H₂O</a:t>
            </a:r>
            <a:endParaRPr lang="en-US" sz="1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776" y="4675188"/>
            <a:ext cx="945035" cy="113407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66818" y="4864199"/>
            <a:ext cx="40697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Glikoz + O₂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3243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Kloroplast: Sahne Neresi?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9719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Fotosentez,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kloroplast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adı verilen özel organellerde gerçekleşir. Kloroplast içinde ışığı soğuran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klorofil pigmenti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bulunur ve iki temel bölge fotosentezin iki evresine ev sahipliği yapar.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317081"/>
            <a:ext cx="6296860" cy="2808486"/>
          </a:xfrm>
          <a:prstGeom prst="roundRect">
            <a:avLst>
              <a:gd name="adj" fmla="val 2827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3323431"/>
            <a:ext cx="6284160" cy="1397893"/>
          </a:xfrm>
          <a:custGeom>
            <a:avLst/>
            <a:gdLst/>
            <a:ahLst/>
            <a:cxnLst/>
            <a:rect l="l" t="t" r="r" b="b"/>
            <a:pathLst>
              <a:path w="6284160" h="1397893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397893"/>
                </a:lnTo>
                <a:lnTo>
                  <a:pt x="0" y="139789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547808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3512443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Granalar (Tilakoidler)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92747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Yığın halindeki zar yapıları;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ışığa bağlı reaksiyonlar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burada gerçekleşir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4721324"/>
            <a:ext cx="6284160" cy="1397893"/>
          </a:xfrm>
          <a:custGeom>
            <a:avLst/>
            <a:gdLst/>
            <a:ahLst/>
            <a:cxnLst/>
            <a:rect l="l" t="t" r="r" b="b"/>
            <a:pathLst>
              <a:path w="6284160" h="1397893">
                <a:moveTo>
                  <a:pt x="0" y="0"/>
                </a:moveTo>
                <a:lnTo>
                  <a:pt x="6284160" y="0"/>
                </a:lnTo>
                <a:lnTo>
                  <a:pt x="6284160" y="1331735"/>
                </a:lnTo>
                <a:arcTo hR="66158" wR="66156" stAng="0" swAng="5400000"/>
                <a:lnTo>
                  <a:pt x="66156" y="139789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547808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72132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910336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Stroma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253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Granaları çevreleyen sıvı matris;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Calvin Döngüsü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(karanlık evre) burada yürür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13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1. Evre: Işığa Bağlı Reaksiyonlar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79054"/>
            <a:ext cx="2263421" cy="269180"/>
          </a:xfrm>
          <a:prstGeom prst="roundRect">
            <a:avLst>
              <a:gd name="adj" fmla="val 22119"/>
            </a:avLst>
          </a:prstGeom>
          <a:solidFill>
            <a:srgbClr val="334805"/>
          </a:solidFill>
          <a:ln/>
        </p:spPr>
      </p:sp>
      <p:sp>
        <p:nvSpPr>
          <p:cNvPr id="4" name="Text 2"/>
          <p:cNvSpPr/>
          <p:nvPr/>
        </p:nvSpPr>
        <p:spPr>
          <a:xfrm>
            <a:off x="767735" y="1532136"/>
            <a:ext cx="266048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GRANALAR / TILAKOID ZARLARI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935063"/>
            <a:ext cx="8452035" cy="3868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1606" y="473195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NADPH üretimi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1783" y="473195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ATP sentezi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352827" y="473195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Su fotolizi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20397" y="473195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Klorofil ışığı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99023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Işık enerjisi, su moleküllerini parçalar ve 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oksijen gazı (O₂)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atmosfere salınır. Aynı anda ATP ve NADPH üretilerek ikinci evre için enerji depolanır.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2. Evre: Calvin Döngüsü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413335" cy="143470"/>
          </a:xfrm>
          <a:prstGeom prst="roundRect">
            <a:avLst>
              <a:gd name="adj" fmla="val 22134"/>
            </a:avLst>
          </a:prstGeom>
          <a:solidFill>
            <a:srgbClr val="334805"/>
          </a:solidFill>
          <a:ln/>
        </p:spPr>
      </p:sp>
      <p:sp>
        <p:nvSpPr>
          <p:cNvPr id="4" name="Text 2"/>
          <p:cNvSpPr/>
          <p:nvPr/>
        </p:nvSpPr>
        <p:spPr>
          <a:xfrm>
            <a:off x="718127" y="937816"/>
            <a:ext cx="90961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STROMA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59173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47216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Karanlık Evre Nasıl Çalışır?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66702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Doğrudan ışığa ihtiyaç duymaz, ancak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 evreden gelen ATP ve NADPH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olmadan ilerleyemez.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3822898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CO₂, organik moleküllere "tutturulur" (karbon fiksasyonu)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G3P molekülü üretilir → glikoz sentezinin yapı taşı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Döngü sürekli tekrarlanır, RuBP yeniden üretilir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1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Fotosentez Hızını Ne Belirler?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9022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Minimum Yasası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(Liebig): Fotosentez hızı, etki eden faktörlerin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düşük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olanına göre belirlenir. En bol faktör değil, en kısıtlayıcı faktör belirleyicidir.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07692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4219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Işık Şiddeti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83063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Artar, ancak belirli bir eşiğin üzerinde hız sabit kalır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807692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34219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CO₂ Konsantrasyonu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83063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Artışı hızı artırır; fakat diğer faktörler sınırlıysa etkisiz kalır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11080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12534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Sıcaklık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553402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Optimum aralıkta enzimler hızlanır; aşırı sıcaklıkta bozulur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511080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512534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Su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53402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Kuraklık stomaları kapatır, CO₂ girişini engeller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Çevresel Sınırlar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6983932" cy="10472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2336" y="5105003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Hangi Faktörler Sınırlar?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2336" y="5305723"/>
            <a:ext cx="3654135" cy="6359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10027" y="553511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320276" y="5412879"/>
            <a:ext cx="310904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Işık Türü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320276" y="5607745"/>
            <a:ext cx="310904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Mor ve kırmızı dalga boylarında maksimum;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yeşil ışık yansıtıldığından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daha az verimli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2336" y="5988943"/>
            <a:ext cx="3654135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10027" y="618380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320276" y="6096099"/>
            <a:ext cx="310904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Sıcaklık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320276" y="6290965"/>
            <a:ext cx="310904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40°C üzerinde enzimler denatüre olur, hız hızla düşer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82336" y="6603206"/>
            <a:ext cx="3654135" cy="635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10027" y="6832600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320276" y="6710363"/>
            <a:ext cx="310904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 ve Su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320276" y="6905228"/>
            <a:ext cx="310904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Enzim aktivitesi için kritik; stomalar ve kloroplast sayısı da hızla doğrudan ilişkilidir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65063"/>
            <a:ext cx="6296860" cy="1689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Bitkiler Nasıl Uyum Sağlar? (C3, C4, CAM)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611834"/>
            <a:ext cx="690644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Sıcak ve kurak koşullarda bitkiler farklı adaptasyonlar geliştirmiştir.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086497"/>
            <a:ext cx="3062608" cy="1608137"/>
          </a:xfrm>
          <a:prstGeom prst="roundRect">
            <a:avLst>
              <a:gd name="adj" fmla="val 4705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902" y="3272929"/>
            <a:ext cx="2689753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C3 Bitkiler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902" y="3663752"/>
            <a:ext cx="26897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Standart Calvin Döngüsü. Sıcakta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fotorespirasyon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artar, verim düşer. Örnek: buğday, pirinç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727" y="3086497"/>
            <a:ext cx="3062608" cy="1608137"/>
          </a:xfrm>
          <a:prstGeom prst="roundRect">
            <a:avLst>
              <a:gd name="adj" fmla="val 4705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2154" y="3272929"/>
            <a:ext cx="2689753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🌽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C4 Bitkiler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2154" y="3663752"/>
            <a:ext cx="26897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CO₂'yi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daha verimli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tutan özel yolak. Yüksek sıcaklıkta avantajlı. Örnek: mısır, şeker kamışı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866283"/>
            <a:ext cx="6296860" cy="1326654"/>
          </a:xfrm>
          <a:prstGeom prst="roundRect">
            <a:avLst>
              <a:gd name="adj" fmla="val 5704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902" y="5052715"/>
            <a:ext cx="5924005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🌵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CAM Bitkiler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902" y="5443538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CO₂'yi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gece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alır, gündüz Calvin Döngüsü'nü yürütür. Su kaybı minimum. Örnek: kaktüs, ananas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2026-10-06T15:46:07Z</dcterms:created>
  <dcterms:modified xsi:type="dcterms:W3CDTF">2026-10-06T15:46:07Z</dcterms:modified>
</cp:coreProperties>
</file>