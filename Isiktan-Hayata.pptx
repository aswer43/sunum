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  <p:embeddedFont>
      <p:font typeface="Noto Serif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14014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Fotosentez ve Kloroplast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14266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Işıktan Hayata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4112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Güneş enerjisinin kimyasal enerjiye dönüştüğü, yaşamın temelini oluşturan muhteşem süreç.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7442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Fotosentez Kimlerde ve Neden Hayati?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209006"/>
            <a:ext cx="3053877" cy="2311499"/>
          </a:xfrm>
          <a:prstGeom prst="roundRect">
            <a:avLst>
              <a:gd name="adj" fmla="val 736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40436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Kimler Yapar?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813050"/>
            <a:ext cx="2663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Mor kükürt bakterileri, siyanobakteriler, öglena/alg ve bitkiler fotosentez yapar.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Mantar ve hayvanlar yapamaz.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209006"/>
            <a:ext cx="3053976" cy="2311499"/>
          </a:xfrm>
          <a:prstGeom prst="roundRect">
            <a:avLst>
              <a:gd name="adj" fmla="val 736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40436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Neden Önemli?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813050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Güneş enerjisi doğrudan kullanılamaz; fotosentez, enerjiyi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inorganikten organiğe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çevirerek besin zincirinin temelini oluşturur.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709517"/>
            <a:ext cx="6296860" cy="1404243"/>
          </a:xfrm>
          <a:prstGeom prst="roundRect">
            <a:avLst>
              <a:gd name="adj" fmla="val 12114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90487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Oksijen Kaynağı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313561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Oksijen, fotosentezde oluşan bir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yan üründür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ve fazlası atmosfere salınır. Tüm aerobik yaşam bu oksijene bağımlıdır.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826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Kloroplastın Mimarlığı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23566"/>
            <a:ext cx="6948611" cy="39178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7818" y="2902347"/>
            <a:ext cx="358865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Fotosentez ökaryotlarda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kloroplast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organelinde gerçekleşir. Kloroplastlar yeşil dokularda yoğunlaşır ve son derece organize bir iç yapıya sahiptir.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61087"/>
            <a:ext cx="3557796" cy="9540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2550" y="5515967"/>
            <a:ext cx="317184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Çift Zar + Stroma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92550" y="5786834"/>
            <a:ext cx="3171845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Dış ve iç zar; içi stroma sıvısıyla dolu.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6900" y="5361087"/>
            <a:ext cx="3557796" cy="9540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47975" y="5515967"/>
            <a:ext cx="317184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Tilakoit &amp; Granum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547975" y="5786834"/>
            <a:ext cx="317184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Tilakoit zar sistemi granumları oluşturur; pigmentler burada yer alır.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2325" y="5361087"/>
            <a:ext cx="3557895" cy="9540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03399" y="5515967"/>
            <a:ext cx="317194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Özerk Genetik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203399" y="5786834"/>
            <a:ext cx="3171944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Kloroplastın kendi DNA'sı, RNA'sı ve ribozomları vardır.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Pigmentler ve Işık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661475" y="909538"/>
            <a:ext cx="1705131" cy="143470"/>
          </a:xfrm>
          <a:prstGeom prst="roundRect">
            <a:avLst>
              <a:gd name="adj" fmla="val 47429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18127" y="937816"/>
            <a:ext cx="220141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RENKLER NASIL "HAMMADDE"YE DÖNÜŞÜR?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59173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3705324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Pigmentler, ışığı soğurarak kimyasal enerjiye dönüşümü başlatan moleküllerdir. Farklı pigmentler farklı dalga boylarını yakalayarak fotosentez verimliliğini artırır.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6895" y="6587480"/>
            <a:ext cx="141681" cy="1416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8549" y="6584553"/>
            <a:ext cx="327641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Klorofil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968549" y="6760468"/>
            <a:ext cx="327641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Işığı emer, elektronları ETS'ye aktararak kimyasal enerji üretimini başlatır.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9422" y="6587480"/>
            <a:ext cx="141681" cy="1416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11076" y="6584553"/>
            <a:ext cx="327651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Karotenoitler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611076" y="6760468"/>
            <a:ext cx="327651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Karoten, ksantofil ve likopen; klorofilden farklı dalga boylarını soğurur ve fazla ışığı emerek hücreyi korur.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2048" y="6587480"/>
            <a:ext cx="141681" cy="1416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53702" y="6584553"/>
            <a:ext cx="327641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Fotosistemler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8253702" y="6760468"/>
            <a:ext cx="327641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Tilakoitlerde organize pigment grupları ışığı yakalar; ışık spektrumu fotosentez hızını doğrudan etkiler.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28638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Işığa Bağımlı Evre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33360" y="1384796"/>
            <a:ext cx="2502830" cy="282674"/>
          </a:xfrm>
          <a:prstGeom prst="roundRect">
            <a:avLst>
              <a:gd name="adj" fmla="val 47393"/>
            </a:avLst>
          </a:prstGeom>
          <a:noFill/>
          <a:ln w="6350">
            <a:solidFill>
              <a:srgbClr val="0067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44979" y="1440557"/>
            <a:ext cx="2889178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FOTOLIZ VE ATP-NADPH ÜRETIMI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233360" y="1873448"/>
            <a:ext cx="744221" cy="1363166"/>
          </a:xfrm>
          <a:prstGeom prst="roundRect">
            <a:avLst>
              <a:gd name="adj" fmla="val 5000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65923" y="2380555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6160735" y="2059484"/>
            <a:ext cx="536948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Granada Başlar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60735" y="2460030"/>
            <a:ext cx="536948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Işığa bağlı reaksiyonlar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granularda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gerçekleşir; ışık, klorofil ve elektron taşıma zinciri (ETS) rol alır.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3419773"/>
            <a:ext cx="744221" cy="1363166"/>
          </a:xfrm>
          <a:prstGeom prst="roundRect">
            <a:avLst>
              <a:gd name="adj" fmla="val 5000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65923" y="3926880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160735" y="3605808"/>
            <a:ext cx="536948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Fotoliz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160735" y="4006354"/>
            <a:ext cx="536948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 molekülleri ışık enerjisiyle parçalanır; elektron ve proton ayrışır,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O₂ açığa çıkar.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233360" y="4966097"/>
            <a:ext cx="744221" cy="1363166"/>
          </a:xfrm>
          <a:prstGeom prst="roundRect">
            <a:avLst>
              <a:gd name="adj" fmla="val 5000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65923" y="5473204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6160735" y="5152132"/>
            <a:ext cx="536948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Fotofosforilasyon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60735" y="5552678"/>
            <a:ext cx="536948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ADP + Pi →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ATP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üretilir. Üretilen ATP ve NADPH, bir sonraki evrede kullanılmak üzere depolanır.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554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Fotosistem I ve II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661475" y="1059954"/>
            <a:ext cx="1891757" cy="183952"/>
          </a:xfrm>
          <a:prstGeom prst="roundRect">
            <a:avLst>
              <a:gd name="adj" fmla="val 47396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34101" y="1096268"/>
            <a:ext cx="2356089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P680–P700 MANTIĞIYLA ENERJI AKIŞI</a:t>
            </a:r>
            <a:endParaRPr lang="en-US" sz="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18332"/>
            <a:ext cx="6961311" cy="39176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24403" y="3138884"/>
            <a:ext cx="3612067" cy="476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Işık pigmentlerce emilip reaksiyon merkezine aktarılır; iki fotosistem genelde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birlikte çalışır.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Devirli akışta yalnızca ATP, devirsiz akışta ise ATP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NADPH oluşur.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61475" y="5510411"/>
            <a:ext cx="5395579" cy="820936"/>
          </a:xfrm>
          <a:prstGeom prst="roundRect">
            <a:avLst>
              <a:gd name="adj" fmla="val 13275"/>
            </a:avLst>
          </a:prstGeom>
          <a:solidFill>
            <a:srgbClr val="E5F9F2">
              <a:alpha val="95000"/>
            </a:srgbClr>
          </a:solidFill>
          <a:ln w="12700">
            <a:solidFill>
              <a:srgbClr val="B7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218" y="5644158"/>
            <a:ext cx="512809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Fotosistem II — P680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5218" y="5879902"/>
            <a:ext cx="5128092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Merkezde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680 nm'de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optimum soğurma yapan klorofil-a bulunur. Suyun fotolizinden elektron alır.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34542" y="5510411"/>
            <a:ext cx="5395678" cy="820936"/>
          </a:xfrm>
          <a:prstGeom prst="roundRect">
            <a:avLst>
              <a:gd name="adj" fmla="val 13275"/>
            </a:avLst>
          </a:prstGeom>
          <a:solidFill>
            <a:srgbClr val="E5F9F2">
              <a:alpha val="95000"/>
            </a:srgbClr>
          </a:solidFill>
          <a:ln w="12700">
            <a:solidFill>
              <a:srgbClr val="B7D5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8285" y="5644158"/>
            <a:ext cx="512819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Fotosistem I — P700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268285" y="5879902"/>
            <a:ext cx="5128191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Merkezde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700 nm'de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optimum soğurma yapan klorofil-a bulunur. NADPH üretiminden sorumludur.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306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Calvin Döngüsü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1371203"/>
            <a:ext cx="4015481" cy="255786"/>
          </a:xfrm>
          <a:prstGeom prst="roundRect">
            <a:avLst>
              <a:gd name="adj" fmla="val 47387"/>
            </a:avLst>
          </a:prstGeom>
          <a:noFill/>
          <a:ln w="6350">
            <a:solidFill>
              <a:srgbClr val="0067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477" y="1421705"/>
            <a:ext cx="4423061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IŞIKTAN BAĞIMSIZ EVRE — KARBONUN ŞEKERE DÖNÜŞÜMÜ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221" y="1795661"/>
            <a:ext cx="10399155" cy="35845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83817" y="2223048"/>
            <a:ext cx="2445448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Karbon Tutma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83817" y="2972325"/>
            <a:ext cx="2445448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İndirgeme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383817" y="3734679"/>
            <a:ext cx="2445448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Yeniden Üretim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548908"/>
            <a:ext cx="1086874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Calvin döngüsü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stromada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gerçekleşir ve ışığın klorofillere doğrudan etkisi olmadan ilerler. CO₂'nin bağlanması için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RUBP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kullanılır; C-3 döngüsüyle 3 karbonlu ara ürünler oluşur. Sonuçta ATP ve NADPH yardımıyla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glikoz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gibi organik besinler sentezlenir. Bu evre, karbonun "tutulduğu" ve şekere dönüştüğü kritik aşamadır.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58701"/>
            <a:ext cx="6296860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Fotosentez Hızını Ne Belirler?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145381"/>
            <a:ext cx="346959" cy="3469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1619746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Klorofil Miktarı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233360" y="1897757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Daha fazla klorofil, daha fazla ışık yakalama kapasitesi demektir.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294136"/>
            <a:ext cx="346959" cy="3469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3360" y="2768501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Işık Şiddeti &amp; Dalga Boyu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233360" y="3046512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Belirli bir eşiğe kadar hız artar; aşırı ışık performansı düşürür.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3442891"/>
            <a:ext cx="346959" cy="3469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33360" y="3917255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CO₂ Yoğunluğu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5233360" y="4195266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Karbon kaynağı; artışı hızı artırır ancak belirli bir noktada sabitlenir.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4591645"/>
            <a:ext cx="346959" cy="3469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33360" y="5066010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Sıcaklık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5233360" y="5344021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Enzim aktivitesini etkiler; uygun aralık dışında hız düşer.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5233360" y="5651202"/>
            <a:ext cx="6296860" cy="647998"/>
          </a:xfrm>
          <a:prstGeom prst="roundRect">
            <a:avLst>
              <a:gd name="adj" fmla="val 19279"/>
            </a:avLst>
          </a:prstGeom>
          <a:solidFill>
            <a:srgbClr val="CCFFEF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2164" y="5799534"/>
            <a:ext cx="173430" cy="13880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684398" y="5787727"/>
            <a:ext cx="5707019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Minimum Kuralı: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Hızı en az olan faktör belirler. Kloroplast yapısı + pigmentler + fotosistemler + iki evre, güneşi yaşama dönüştüren tek bir zincirdir.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2026-10-06T17:37:20Z</dcterms:created>
  <dcterms:modified xsi:type="dcterms:W3CDTF">2026-10-06T17:37:20Z</dcterms:modified>
</cp:coreProperties>
</file>